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Мы команда «Зазеркалье», решаем кейс LinQ хакатона «Открой#Моспром». Камеры на предприятиях уже стоят, но работают как архив: нарушение разбирают, когда инцидент уже случился. Мы превращаем эти камеры в систему предупреждения, и все нейросети при этом работают на отечественном ускорителе LinQ TPU.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Схема простая. Видео не уходит с площадки: декод, нейросети, трекинг и правила работают на edge-узле рядом с LinQ TPU, наружу идут только события. Одно нарушение — одно оповещение с кадром, клипом, камерой, зоной и временем. От начала нарушения до оповещения около двух секунд, и почти всё это время — окно подтверждения, которое задаёт специалист по охране труда.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главный экран диспетчера. На каждой камере видно, что сейчас распознаётся, и нарушение подсвечено прямо на кадре. Справа лента тревог: критические закреплены сверху, со звуком, а баннер виден на любом экране. Внизу хроника смены: когда и на какой камере были события.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Откроем событие: человек зашёл в опасную зону. В карточке кадр с рамкой и зоной, клип, камера, время начала и оповещения. Диспетчер ставит статус одной клавишей: подтверждено, ложное или передано мастеру, и отмечает виновника. Каждое событие уходит в RabbitMQ JSON-конвертом через exchange guard.edge.v1: очередь долговечная, повторная доставка дублей не создаёт. MES, SCADA, ERP или бот в мессенджере подписываются своей очередью; формат описан в docs/EDGE_PROTOCOL.md.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Журнал — доказательная база для службы охраны труда и юристов: кадр, клип, решение и комментарий оператора. Фильтры по периоду, типу, камере, зоне, статусу и важности. Выгрузка — в CSV для Excel, отчёт за смену или за месяц собирается из того же журнала.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Специалист по охране труда рисует зону мышью прямо на кадре и выбирает её тип: опасная зона, обязательные СИЗ, место для курения, проезд техники, работа на высоте. Ставит расписание, например с 07:55 до 12:00. Правило включается формой, без кода; правка доходит до edge-узла и применяется без перезапуска.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конце месяца менеджмент видит, где, когда и что нарушают: по типам, участкам, камерам и часам. В карточке события диспетчер отмечает сотрудника-нарушителя, и по каждому человеку собирается персональная статистика: отчёт и CSV по подтверждённым нарушениям за период.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ограничение видеоаналитики — мало данных с конкретного цеха. Система сама собирает обучающую выборку: кадры событий, неуверенные рамки, ложные тревоги. Учитель предлагает разметку, человек принимает её одной клавишей, датасет выгружается в формате YOLO. Дальше дообучение, сборка под LinQ и гейт: новая модель выходит, только если на отложенных данных она не хуже прежней.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это работает на LinQ TPU: четыре камеры держат 4,8–4,9 кадра в секунду каждая. От начала нарушения до оповещения 2,2 секунды по медиане, из них 1,7 — окно подтверждения правила. На процессоре того же контейнера кадров в четыре раза меньше: 4,8 против 19,4 в секунду, и сценарии СИЗ и падения просто не успевают подтвердиться. Цифры — замеры 24.10 на стенде: docs/EDGE.md §6.1 и §6.3.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одно оповещение на нарушение за пару секунд, настройка без кода, интеграция через очередь и замкнутый цикл дообучения — и всё на отечественном LinQ TPU. Спасибо за внимание,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vent.jpg"/>
          <p:cNvPicPr>
            <a:picLocks noChangeAspect="1"/>
          </p:cNvPicPr>
          <p:nvPr/>
        </p:nvPicPr>
        <p:blipFill>
          <a:blip r:embed="rId2"/>
          <a:srcRect l="11500" t="20500" r="53035" b="33700"/>
          <a:stretch>
            <a:fillRect/>
          </a:stretch>
        </p:blipFill>
        <p:spPr>
          <a:xfrm>
            <a:off x="5897880" y="1097280"/>
            <a:ext cx="6293815" cy="4572000"/>
          </a:xfrm>
          <a:prstGeom prst="roundRect">
            <a:avLst>
              <a:gd name="adj" fmla="val 2400"/>
            </a:avLst>
          </a:prstGeom>
          <a:ln w="12700">
            <a:solidFill>
              <a:srgbClr val="2C3037"/>
            </a:solidFill>
          </a:ln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2402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600" b="0" lang="ru-RU" spc="1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Открой#Моспром · кейс LinQ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6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Зазеркалье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400" b="0" lang="ru-RU">
                <a:solidFill>
                  <a:srgbClr val="EDEBE6"/>
                </a:solidFill>
                <a:latin typeface="Onest Medium"/>
                <a:ea typeface="Onest Medium"/>
                <a:cs typeface="Onest Medium"/>
              </a:rPr>
              <a:t>Видеоаналитика охраны труда</a:t>
            </a:r>
            <a:br/>
            <a:r>
              <a:rPr sz="2400" b="0" lang="ru-RU">
                <a:solidFill>
                  <a:srgbClr val="EDEBE6"/>
                </a:solidFill>
                <a:latin typeface="Onest Medium"/>
                <a:ea typeface="Onest Medium"/>
                <a:cs typeface="Onest Medium"/>
              </a:rPr>
              <a:t>на LinQ TPU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Команда «Зазеркалье» · 25 октября 2026</a:t>
            </a:r>
          </a:p>
        </p:txBody>
      </p:sp>
      <p:pic>
        <p:nvPicPr>
          <p:cNvPr id="8" name="Picture 7" descr="haz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29984"/>
            <a:ext cx="12191695" cy="128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РЕШЕНИЕ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02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Нарушение → оповещение за 2 секунды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396413" cy="2175560"/>
          </a:xfrm>
          <a:prstGeom prst="roundRect">
            <a:avLst>
              <a:gd name="adj" fmla="val 5884"/>
            </a:avLst>
          </a:prstGeom>
          <a:solidFill>
            <a:srgbClr val="171A1F"/>
          </a:solidFill>
          <a:ln w="12700">
            <a:solidFill>
              <a:srgbClr val="2C3037"/>
            </a:solidFill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2249424"/>
            <a:ext cx="188434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 lang="ru-RU" spc="1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78608"/>
            <a:ext cx="1884349" cy="1380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Камеры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IP-камеры и видеопотоки цеха</a:t>
            </a:r>
          </a:p>
        </p:txBody>
      </p:sp>
      <p:sp>
        <p:nvSpPr>
          <p:cNvPr id="8" name="Стрелка"/>
          <p:cNvSpPr/>
          <p:nvPr/>
        </p:nvSpPr>
        <p:spPr>
          <a:xfrm>
            <a:off x="3054781" y="2944012"/>
            <a:ext cx="246888" cy="310896"/>
          </a:xfrm>
          <a:prstGeom prst="rightArrow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447973" y="2011680"/>
            <a:ext cx="2396413" cy="2175560"/>
          </a:xfrm>
          <a:prstGeom prst="roundRect">
            <a:avLst>
              <a:gd name="adj" fmla="val 5884"/>
            </a:avLst>
          </a:prstGeom>
          <a:solidFill>
            <a:srgbClr val="2A2307"/>
          </a:solidFill>
          <a:ln w="19050">
            <a:solidFill>
              <a:srgbClr val="F5C400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04005" y="2249424"/>
            <a:ext cx="188434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 lang="ru-RU" spc="1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4005" y="2578608"/>
            <a:ext cx="1884349" cy="1380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Edge + LinQ TPU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детекция, поза, трекинг, правила</a:t>
            </a:r>
          </a:p>
        </p:txBody>
      </p:sp>
      <p:sp>
        <p:nvSpPr>
          <p:cNvPr id="12" name="Стрелка"/>
          <p:cNvSpPr/>
          <p:nvPr/>
        </p:nvSpPr>
        <p:spPr>
          <a:xfrm>
            <a:off x="5954115" y="2944012"/>
            <a:ext cx="246888" cy="310896"/>
          </a:xfrm>
          <a:prstGeom prst="rightArrow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47307" y="2011680"/>
            <a:ext cx="2396413" cy="2175560"/>
          </a:xfrm>
          <a:prstGeom prst="roundRect">
            <a:avLst>
              <a:gd name="adj" fmla="val 5884"/>
            </a:avLst>
          </a:prstGeom>
          <a:solidFill>
            <a:srgbClr val="171A1F"/>
          </a:solidFill>
          <a:ln w="12700">
            <a:solidFill>
              <a:srgbClr val="2C3037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03339" y="2249424"/>
            <a:ext cx="188434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 lang="ru-RU" spc="1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3339" y="2578608"/>
            <a:ext cx="1884349" cy="1380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Событие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кадр, клип, зона, время</a:t>
            </a:r>
          </a:p>
        </p:txBody>
      </p:sp>
      <p:sp>
        <p:nvSpPr>
          <p:cNvPr id="16" name="Стрелка"/>
          <p:cNvSpPr/>
          <p:nvPr/>
        </p:nvSpPr>
        <p:spPr>
          <a:xfrm>
            <a:off x="8853449" y="2944012"/>
            <a:ext cx="246888" cy="310896"/>
          </a:xfrm>
          <a:prstGeom prst="rightArrow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246641" y="2011680"/>
            <a:ext cx="2396413" cy="2175560"/>
          </a:xfrm>
          <a:prstGeom prst="roundRect">
            <a:avLst>
              <a:gd name="adj" fmla="val 5884"/>
            </a:avLst>
          </a:prstGeom>
          <a:solidFill>
            <a:srgbClr val="171A1F"/>
          </a:solidFill>
          <a:ln w="12700">
            <a:solidFill>
              <a:srgbClr val="2C3037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2673" y="2249424"/>
            <a:ext cx="188434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 lang="ru-RU" spc="1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2673" y="2578608"/>
            <a:ext cx="1884349" cy="1380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3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Оператор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пульт, журнал, аналитика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53000"/>
            <a:ext cx="11094415" cy="0"/>
          </a:xfrm>
          <a:prstGeom prst="rect">
            <a:avLst/>
          </a:prstGeom>
          <a:noFill/>
          <a:ln w="12700">
            <a:solidFill>
              <a:srgbClr val="2C3037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4873040"/>
            <a:ext cx="342381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 lang="ru-RU">
                <a:solidFill>
                  <a:srgbClr val="F5C400"/>
                </a:solidFill>
                <a:latin typeface="Onest ExtraBold"/>
                <a:ea typeface="Onest ExtraBold"/>
                <a:cs typeface="Onest ExtraBold"/>
              </a:rPr>
              <a:t>≈2 с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от нарушения до оповещения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6778" y="4873040"/>
            <a:ext cx="342381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 lang="ru-RU">
                <a:solidFill>
                  <a:srgbClr val="F5C400"/>
                </a:solidFill>
                <a:latin typeface="Onest ExtraBold"/>
                <a:ea typeface="Onest ExtraBold"/>
                <a:cs typeface="Onest ExtraBold"/>
              </a:rPr>
              <a:t>13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типов нарушений, каждый — плагин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4916" y="4873040"/>
            <a:ext cx="3423818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400" b="0" lang="ru-RU">
                <a:solidFill>
                  <a:srgbClr val="F5C400"/>
                </a:solidFill>
                <a:latin typeface="Onest ExtraBold"/>
                <a:ea typeface="Onest ExtraBold"/>
                <a:cs typeface="Onest ExtraBold"/>
              </a:rPr>
              <a:t>1 = 1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одно нарушение — одно оповещение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МОНИТОРИНГ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03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Вся смена на одном экране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Живые камеры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нарушение подсвечено прямо на кадре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3563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689910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Лента тревог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критичные сверху, со звуком и баннером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62501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3916781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Хроника смены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все события по камерам на таймлайне</a:t>
            </a:r>
          </a:p>
        </p:txBody>
      </p:sp>
      <p:pic>
        <p:nvPicPr>
          <p:cNvPr id="11" name="Picture 10" descr="monitoring.jpg"/>
          <p:cNvPicPr>
            <a:picLocks noChangeAspect="1"/>
          </p:cNvPicPr>
          <p:nvPr/>
        </p:nvPicPr>
        <p:blipFill>
          <a:blip r:embed="rId2"/>
          <a:srcRect l="5800"/>
          <a:stretch>
            <a:fillRect/>
          </a:stretch>
        </p:blipFill>
        <p:spPr>
          <a:xfrm>
            <a:off x="3520439" y="1417320"/>
            <a:ext cx="8396935" cy="5014093"/>
          </a:xfrm>
          <a:prstGeom prst="roundRect">
            <a:avLst>
              <a:gd name="adj" fmla="val 1276"/>
            </a:avLst>
          </a:prstGeom>
          <a:ln w="12700">
            <a:solidFill>
              <a:srgbClr val="2C3037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СОБЫТИЕ И ИНТЕГРАЦИЯ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04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Одно нарушение — одна карточка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Доказательство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рамка и зона на снимке, клип, статус в один клик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3563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689910"/>
            <a:ext cx="2496312" cy="1252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Интеграция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JSON-событие в очереди RabbitMQ, без дублей</a:t>
            </a:r>
          </a:p>
        </p:txBody>
      </p:sp>
      <p:sp>
        <p:nvSpPr>
          <p:cNvPr id="9" name="Поток"/>
          <p:cNvSpPr/>
          <p:nvPr/>
        </p:nvSpPr>
        <p:spPr>
          <a:xfrm>
            <a:off x="502920" y="4189476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71A1F"/>
          </a:solidFill>
          <a:ln w="12700">
            <a:solidFill>
              <a:srgbClr val="2C3037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4189476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</a:pPr>
            <a:r>
              <a:rPr sz="16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Событие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09928" y="4619244"/>
            <a:ext cx="237744" cy="128015"/>
          </a:xfrm>
          <a:prstGeom prst="downArrow">
            <a:avLst/>
          </a:prstGeom>
          <a:solidFill>
            <a:srgbClr val="77756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Поток"/>
          <p:cNvSpPr/>
          <p:nvPr/>
        </p:nvSpPr>
        <p:spPr>
          <a:xfrm>
            <a:off x="502920" y="47929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A2307"/>
          </a:solidFill>
          <a:ln w="12700">
            <a:solidFill>
              <a:srgbClr val="F5C400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2920" y="479298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</a:pPr>
            <a:r>
              <a:rPr sz="1600" b="0" lang="ru-RU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RabbitMQ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09928" y="5222748"/>
            <a:ext cx="237744" cy="128015"/>
          </a:xfrm>
          <a:prstGeom prst="downArrow">
            <a:avLst/>
          </a:prstGeom>
          <a:solidFill>
            <a:srgbClr val="77756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Поток"/>
          <p:cNvSpPr/>
          <p:nvPr/>
        </p:nvSpPr>
        <p:spPr>
          <a:xfrm>
            <a:off x="502920" y="5396484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71A1F"/>
          </a:solidFill>
          <a:ln w="12700">
            <a:solidFill>
              <a:srgbClr val="2C3037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" y="539648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5000"/>
              </a:lnSpc>
            </a:pPr>
            <a:r>
              <a:rPr sz="16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MES · SCADA · ERP · бот</a:t>
            </a:r>
          </a:p>
        </p:txBody>
      </p:sp>
      <p:sp>
        <p:nvSpPr>
          <p:cNvPr id="17" name="Сноска"/>
          <p:cNvSpPr txBox="1"/>
          <p:nvPr/>
        </p:nvSpPr>
        <p:spPr>
          <a:xfrm>
            <a:off x="502920" y="5962840"/>
            <a:ext cx="2743200" cy="6757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50" b="0" lang="ru-RU">
                <a:solidFill>
                  <a:srgbClr val="77756F"/>
                </a:solidFill>
                <a:latin typeface="Onest"/>
                <a:ea typeface="Onest"/>
                <a:cs typeface="Onest"/>
              </a:rPr>
              <a:t>Подключение: exchange guard.edge.v1, JSON-конверт — docs/EDGE_PROTOCOL.md</a:t>
            </a:r>
          </a:p>
        </p:txBody>
      </p:sp>
      <p:pic>
        <p:nvPicPr>
          <p:cNvPr id="18" name="Picture 17" descr="event.jpg"/>
          <p:cNvPicPr>
            <a:picLocks noChangeAspect="1"/>
          </p:cNvPicPr>
          <p:nvPr/>
        </p:nvPicPr>
        <p:blipFill>
          <a:blip r:embed="rId2"/>
          <a:srcRect l="10000" t="3000" r="10000" b="5500"/>
          <a:stretch>
            <a:fillRect/>
          </a:stretch>
        </p:blipFill>
        <p:spPr>
          <a:xfrm>
            <a:off x="3858663" y="1417320"/>
            <a:ext cx="8058712" cy="5184648"/>
          </a:xfrm>
          <a:prstGeom prst="roundRect">
            <a:avLst>
              <a:gd name="adj" fmla="val 1234"/>
            </a:avLst>
          </a:prstGeom>
          <a:ln w="12700">
            <a:solidFill>
              <a:srgbClr val="2C3037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ЖУРНАЛ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05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Журнал — доказательная база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Фильтры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период, тип, камера, зона, статус, важность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3563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689910"/>
            <a:ext cx="2496312" cy="1252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Разбор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решение и комментарий оператора у каждого события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35196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189476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Экспорт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CSV для Excel и отчёт за смену или месяц</a:t>
            </a:r>
          </a:p>
        </p:txBody>
      </p:sp>
      <p:pic>
        <p:nvPicPr>
          <p:cNvPr id="11" name="Picture 10" descr="journal.jpg"/>
          <p:cNvPicPr>
            <a:picLocks noChangeAspect="1"/>
          </p:cNvPicPr>
          <p:nvPr/>
        </p:nvPicPr>
        <p:blipFill>
          <a:blip r:embed="rId2"/>
          <a:srcRect l="5800"/>
          <a:stretch>
            <a:fillRect/>
          </a:stretch>
        </p:blipFill>
        <p:spPr>
          <a:xfrm>
            <a:off x="3520439" y="1417320"/>
            <a:ext cx="8396935" cy="5014093"/>
          </a:xfrm>
          <a:prstGeom prst="roundRect">
            <a:avLst>
              <a:gd name="adj" fmla="val 1276"/>
            </a:avLst>
          </a:prstGeom>
          <a:ln w="12700">
            <a:solidFill>
              <a:srgbClr val="2C3037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НАСТРОЙКА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06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Зоны и правила — мышью, без кода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Зона на кадре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полигон рисуется прямо на стоп-кадре камеры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3563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689910"/>
            <a:ext cx="2496312" cy="1252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Типы зон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опасная, обязательные СИЗ, курение, проезд техники, высота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35196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189476"/>
            <a:ext cx="2496312" cy="15780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Правило — формой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расписание, длительность, важность — без перезапуска</a:t>
            </a:r>
          </a:p>
        </p:txBody>
      </p:sp>
      <p:pic>
        <p:nvPicPr>
          <p:cNvPr id="11" name="Picture 10" descr="zones.jpg"/>
          <p:cNvPicPr>
            <a:picLocks noChangeAspect="1"/>
          </p:cNvPicPr>
          <p:nvPr/>
        </p:nvPicPr>
        <p:blipFill>
          <a:blip r:embed="rId2"/>
          <a:srcRect l="26500" t="8500" r="1000" b="15000"/>
          <a:stretch>
            <a:fillRect/>
          </a:stretch>
        </p:blipFill>
        <p:spPr>
          <a:xfrm>
            <a:off x="3520439" y="1417320"/>
            <a:ext cx="8396935" cy="4983870"/>
          </a:xfrm>
          <a:prstGeom prst="roundRect">
            <a:avLst>
              <a:gd name="adj" fmla="val 1284"/>
            </a:avLst>
          </a:prstGeom>
          <a:ln w="12700">
            <a:solidFill>
              <a:srgbClr val="2C3037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АНАЛИТИКА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07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Где, когда и кто нарушает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2496312" cy="9799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Срезы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по типам, участкам, камерам, дням и часам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3563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689910"/>
            <a:ext cx="2496312" cy="13053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Сотрудник в нарушении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диспетчер отмечает виновника в карточке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87875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242155"/>
            <a:ext cx="2496312" cy="13053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Персональная статистика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отчёт и CSV по каждому сотруднику</a:t>
            </a:r>
          </a:p>
        </p:txBody>
      </p:sp>
      <p:pic>
        <p:nvPicPr>
          <p:cNvPr id="11" name="Picture 10" descr="analytics.jpg"/>
          <p:cNvPicPr>
            <a:picLocks noChangeAspect="1"/>
          </p:cNvPicPr>
          <p:nvPr/>
        </p:nvPicPr>
        <p:blipFill>
          <a:blip r:embed="rId2"/>
          <a:srcRect l="5800"/>
          <a:stretch>
            <a:fillRect/>
          </a:stretch>
        </p:blipFill>
        <p:spPr>
          <a:xfrm>
            <a:off x="3520439" y="1417320"/>
            <a:ext cx="8396935" cy="5014093"/>
          </a:xfrm>
          <a:prstGeom prst="roundRect">
            <a:avLst>
              <a:gd name="adj" fmla="val 1276"/>
            </a:avLst>
          </a:prstGeom>
          <a:ln w="12700">
            <a:solidFill>
              <a:srgbClr val="2C3037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ДООБУЧЕНИЕ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08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Маховик данных: модели учатся на своём цехе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2496312" cy="1252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Сбор сам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кадры событий, неуверенные рамки, ложные тревоги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08325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962605"/>
            <a:ext cx="2496312" cy="15780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Разметка и датасет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учитель размечает, человек проверяет, выгрузка в YOLO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33264"/>
            <a:ext cx="64008" cy="274320"/>
          </a:xfrm>
          <a:prstGeom prst="rect">
            <a:avLst/>
          </a:prstGeom>
          <a:solidFill>
            <a:srgbClr val="F5C4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787544"/>
            <a:ext cx="2496312" cy="12526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0" lang="ru-RU">
                <a:solidFill>
                  <a:srgbClr val="EDEBE6"/>
                </a:solidFill>
                <a:latin typeface="Onest SemiBold"/>
                <a:ea typeface="Onest SemiBold"/>
                <a:cs typeface="Onest SemiBold"/>
              </a:rPr>
              <a:t>Дообучение и гейт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6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новая модель выходит, только если не хуже прежней</a:t>
            </a:r>
          </a:p>
        </p:txBody>
      </p:sp>
      <p:pic>
        <p:nvPicPr>
          <p:cNvPr id="11" name="Picture 10" descr="data.jpg"/>
          <p:cNvPicPr>
            <a:picLocks noChangeAspect="1"/>
          </p:cNvPicPr>
          <p:nvPr/>
        </p:nvPicPr>
        <p:blipFill>
          <a:blip r:embed="rId2"/>
          <a:srcRect l="5800"/>
          <a:stretch>
            <a:fillRect/>
          </a:stretch>
        </p:blipFill>
        <p:spPr>
          <a:xfrm>
            <a:off x="3520439" y="1417320"/>
            <a:ext cx="8396935" cy="5014093"/>
          </a:xfrm>
          <a:prstGeom prst="roundRect">
            <a:avLst>
              <a:gd name="adj" fmla="val 1276"/>
            </a:avLst>
          </a:prstGeom>
          <a:ln w="12700">
            <a:solidFill>
              <a:srgbClr val="2C3037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Раздел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 lang="ru-RU" spc="200">
                <a:solidFill>
                  <a:srgbClr val="F5C400"/>
                </a:solidFill>
                <a:latin typeface="Onest SemiBold"/>
                <a:ea typeface="Onest SemiBold"/>
                <a:cs typeface="Onest SemiBold"/>
              </a:rPr>
              <a:t>ПРОИЗВОДИТЕЛЬНОСТЬ</a:t>
            </a:r>
          </a:p>
        </p:txBody>
      </p:sp>
      <p:sp>
        <p:nvSpPr>
          <p:cNvPr id="3" name="Номер"/>
          <p:cNvSpPr txBox="1"/>
          <p:nvPr/>
        </p:nvSpPr>
        <p:spPr>
          <a:xfrm>
            <a:off x="9814255" y="365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</a:pPr>
            <a:r>
              <a:rPr sz="1200" b="0" lang="ru-RU">
                <a:solidFill>
                  <a:srgbClr val="504F4B"/>
                </a:solidFill>
                <a:latin typeface="Onest Medium"/>
                <a:ea typeface="Onest Medium"/>
                <a:cs typeface="Onest Medium"/>
              </a:rPr>
              <a:t>09 / 10</a:t>
            </a:r>
          </a:p>
        </p:txBody>
      </p:sp>
      <p:sp>
        <p:nvSpPr>
          <p:cNvPr id="4" name="Заголовок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4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Всё работает на LinQ TPU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53312"/>
            <a:ext cx="2743200" cy="1270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000" b="0" lang="ru-RU">
                <a:solidFill>
                  <a:srgbClr val="F5C400"/>
                </a:solidFill>
                <a:latin typeface="Onest ExtraBold"/>
                <a:ea typeface="Onest ExtraBold"/>
                <a:cs typeface="Onest ExtraBold"/>
              </a:rPr>
              <a:t>≈2 с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7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до оповещения, медиана 2,2 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52267"/>
            <a:ext cx="2743200" cy="1270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000" b="0" lang="ru-RU">
                <a:solidFill>
                  <a:srgbClr val="F5C400"/>
                </a:solidFill>
                <a:latin typeface="Onest ExtraBold"/>
                <a:ea typeface="Onest ExtraBold"/>
                <a:cs typeface="Onest ExtraBold"/>
              </a:rPr>
              <a:t>4 × 4,9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7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кадра в секунду на каждой из 4 камер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351223"/>
            <a:ext cx="2743200" cy="12703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000" b="0" lang="ru-RU">
                <a:solidFill>
                  <a:srgbClr val="F5C400"/>
                </a:solidFill>
                <a:latin typeface="Onest ExtraBold"/>
                <a:ea typeface="Onest ExtraBold"/>
                <a:cs typeface="Onest ExtraBold"/>
              </a:rPr>
              <a:t>×4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7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больше кадров, чем на CPU того же контейнера</a:t>
            </a:r>
          </a:p>
        </p:txBody>
      </p:sp>
      <p:sp>
        <p:nvSpPr>
          <p:cNvPr id="8" name="Сноска"/>
          <p:cNvSpPr txBox="1"/>
          <p:nvPr/>
        </p:nvSpPr>
        <p:spPr>
          <a:xfrm>
            <a:off x="502920" y="6175882"/>
            <a:ext cx="2743200" cy="4626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50" b="0" lang="ru-RU">
                <a:solidFill>
                  <a:srgbClr val="77756F"/>
                </a:solidFill>
                <a:latin typeface="Onest"/>
                <a:ea typeface="Onest"/>
                <a:cs typeface="Onest"/>
              </a:rPr>
              <a:t>Замеры 24.10 на стенде LinQ: docs/EDGE.md §6.1, §6.3</a:t>
            </a:r>
          </a:p>
        </p:txBody>
      </p:sp>
      <p:pic>
        <p:nvPicPr>
          <p:cNvPr id="9" name="Picture 8" descr="performance.jpg"/>
          <p:cNvPicPr>
            <a:picLocks noChangeAspect="1"/>
          </p:cNvPicPr>
          <p:nvPr/>
        </p:nvPicPr>
        <p:blipFill>
          <a:blip r:embed="rId2"/>
          <a:srcRect l="5800"/>
          <a:stretch>
            <a:fillRect/>
          </a:stretch>
        </p:blipFill>
        <p:spPr>
          <a:xfrm>
            <a:off x="3520439" y="1417320"/>
            <a:ext cx="8396935" cy="5014093"/>
          </a:xfrm>
          <a:prstGeom prst="roundRect">
            <a:avLst>
              <a:gd name="adj" fmla="val 1276"/>
            </a:avLst>
          </a:prstGeom>
          <a:ln w="12700">
            <a:solidFill>
              <a:srgbClr val="2C3037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487" y="123444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97480"/>
            <a:ext cx="10362895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8000" b="0" lang="ru-RU">
                <a:solidFill>
                  <a:srgbClr val="EDEBE6"/>
                </a:solidFill>
                <a:latin typeface="Onest ExtraBold"/>
                <a:ea typeface="Onest ExtraBold"/>
                <a:cs typeface="Onest ExtraBold"/>
              </a:rPr>
              <a:t>Спасибо!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2800" b="0" lang="ru-RU">
                <a:solidFill>
                  <a:srgbClr val="F5C400"/>
                </a:solidFill>
                <a:latin typeface="Onest Medium"/>
                <a:ea typeface="Onest Medium"/>
                <a:cs typeface="Onest Medium"/>
              </a:rPr>
              <a:t>Готовы ответить на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</a:pPr>
            <a:r>
              <a:rPr sz="1800" b="0" lang="ru-RU">
                <a:solidFill>
                  <a:srgbClr val="A9A7A0"/>
                </a:solidFill>
                <a:latin typeface="Onest"/>
                <a:ea typeface="Onest"/>
                <a:cs typeface="Onest"/>
              </a:rPr>
              <a:t>Команда «Зазеркалье» · github.com/timur-nagimov/mospromhack</a:t>
            </a:r>
          </a:p>
        </p:txBody>
      </p:sp>
      <p:pic>
        <p:nvPicPr>
          <p:cNvPr id="6" name="Picture 5" descr="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29984"/>
            <a:ext cx="12191695" cy="1280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Зазеркалье — видеоаналитика охраны труда на LinQ TPU</dc:title>
  <dc:subject/>
  <dc:creator>Команда «Зазеркалье»</dc:creator>
  <cp:keywords/>
  <dc:description/>
  <cp:lastModifiedBy>Команда «Зазеркалье»</cp:lastModifiedBy>
  <cp:revision>1</cp:revision>
  <dcterms:created xsi:type="dcterms:W3CDTF">2013-01-27T09:14:16Z</dcterms:created>
  <dcterms:modified xsi:type="dcterms:W3CDTF">2013-01-27T09:15:58Z</dcterms:modified>
  <cp:category/>
</cp:coreProperties>
</file>