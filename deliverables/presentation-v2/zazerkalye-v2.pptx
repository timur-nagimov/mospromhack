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Мы команда «Зазеркалье», решаем кейс LinQ хакатона «Открой#Моспром». Камеры на предприятиях уже стоят, но работают как архив: нарушение разбирают, когда инцидент уже случился. Мы превращаем эти камеры в систему предупреждения, и все нейросети при этом работают на отечественном ускорителе LinQ TPU.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Схема простая. Видео не уходит с площадки: декод, нейросети, трекинг и правила работают на edge-узле рядом с LinQ TPU, наружу идут только события. Одно нарушение — одно оповещение с кадром, клипом, камерой, зоной и временем. От начала нарушения до оповещения около двух секунд, и почти всё это время — окно подтверждения, которое задаёт специалист по охране труда.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главный экран диспетчера. На каждой камере видно, что сейчас распознаётся, и нарушение подсвечено прямо на кадре. Справа лента тревог: критические закреплены сверху, со звуком, а баннер виден на любом экране. Внизу хроника смены: когда и на какой камере были события.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Откроем событие: человек зашёл в опасную зону. В карточке кадр с рамкой и зоной, клип, камера, время начала и оповещения, задержка по этапам. Диспетчер ставит статус одной клавишей: подтверждено, ложное или передано мастеру. Каждое событие уходит в RabbitMQ JSON-конвертом: очередь долговечная, повторная доставка дублей не создаёт. MES, SCADA, ERP или бот в мессенджере просто подписываются на очередь.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— доказательная база для службы охраны труда и юристов: кадр, клип, решение и комментарий оператора. Фильтры по периоду, типу, камере, зоне, статусу и важности. Выгрузка — в CSV для Excel, отчёт за смену или за месяц собирается из того же журнала.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Специалист по охране труда рисует зону мышью прямо на кадре и выбирает её тип: опасная зона, обязательные СИЗ, место для курения, проезд техники, работа на высоте. Ставит расписание, например с 07:55 до 12:00. Правило включается формой, без кода; правка доходит до edge-узла и применяется без перезапуска.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конце месяца менеджмент видит, где, когда и что нарушают: по типам, участкам, камерам и часам. В карточке события диспетчер отмечает сотрудника-нарушителя, и по каждому человеку собирается персональная статистика: отчёт и CSV по подтверждённым нарушениям за период.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ограничение видеоаналитики — мало данных с конкретного цеха. Система сама собирает обучающую выборку: кадры событий, неуверенные рамки, ложные тревоги. Учитель предлагает разметку, человек принимает её одной клавишей, датасет выгружается в формате YOLO. Дальше дообучение, сборка под LinQ и гейт: новая модель выходит, только если на отложенных данных она не хуже прежней.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 это работает на LinQ TPU: четыре камеры держат почти пять кадров в секунду каждая. От начала нарушения до оповещения 2,2 секунды по медиане, из них 1,7 — окно подтверждения правила. На процессоре того же контейнера кадров в четыре раза меньше, и сценарии СИЗ и падения просто не успевают подтвердиться. Цифры — замеры 24.10 на стенде: docs/EDGE.md, docs/BENCHMARKS.md.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одно оповещение на нарушение за пару секунд, настройка без кода, интеграция через очередь и замкнутый цикл дообучения — и всё на отечественном LinQ TPU. Спасибо за внимание,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vent.jpg"/>
          <p:cNvPicPr>
            <a:picLocks noChangeAspect="1"/>
          </p:cNvPicPr>
          <p:nvPr/>
        </p:nvPicPr>
        <p:blipFill>
          <a:blip r:embed="rId2"/>
          <a:srcRect l="11400" t="20500" r="52980" b="33500"/>
          <a:stretch>
            <a:fillRect/>
          </a:stretch>
        </p:blipFill>
        <p:spPr>
          <a:xfrm>
            <a:off x="5897880" y="1097280"/>
            <a:ext cx="6293815" cy="4572000"/>
          </a:xfrm>
          <a:prstGeom prst="roundRect">
            <a:avLst>
              <a:gd name="adj" fmla="val 2400"/>
            </a:avLst>
          </a:prstGeom>
          <a:ln w="12700">
            <a:solidFill>
              <a:srgbClr val="2C3037"/>
            </a:solidFill>
          </a:ln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91440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2402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600" b="0" lang="ru-RU" spc="1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Открой#Моспром · кейс LinQ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6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Зазеркалье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490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400" b="0" lang="ru-RU">
                <a:solidFill>
                  <a:srgbClr val="EDEBE6"/>
                </a:solidFill>
                <a:latin typeface="Onest Medium"/>
                <a:ea typeface="Onest Medium"/>
                <a:cs typeface="Onest Medium"/>
              </a:rPr>
              <a:t>Видеоаналитика охраны труда</a:t>
            </a:r>
            <a:br/>
            <a:r>
              <a:rPr sz="2400" b="0" lang="ru-RU">
                <a:solidFill>
                  <a:srgbClr val="EDEBE6"/>
                </a:solidFill>
                <a:latin typeface="Onest Medium"/>
                <a:ea typeface="Onest Medium"/>
                <a:cs typeface="Onest Medium"/>
              </a:rPr>
              <a:t>на LinQ TPU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Команда «Зазеркалье» · 25 октября 2026</a:t>
            </a:r>
          </a:p>
        </p:txBody>
      </p:sp>
      <p:pic>
        <p:nvPicPr>
          <p:cNvPr id="8" name="Picture 7" descr="haz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729984"/>
            <a:ext cx="12191695" cy="1280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РЕШЕНИЕ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02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Нарушение → оповещение за 2 секунды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396413" cy="2175560"/>
          </a:xfrm>
          <a:prstGeom prst="roundRect">
            <a:avLst>
              <a:gd name="adj" fmla="val 5884"/>
            </a:avLst>
          </a:prstGeom>
          <a:solidFill>
            <a:srgbClr val="171A1F"/>
          </a:solidFill>
          <a:ln w="12700">
            <a:solidFill>
              <a:srgbClr val="2C3037"/>
            </a:solidFill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2249424"/>
            <a:ext cx="188434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0" lang="ru-RU" spc="1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578608"/>
            <a:ext cx="1884349" cy="1380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3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Камеры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IP-камеры и видеопотоки цеха</a:t>
            </a:r>
          </a:p>
        </p:txBody>
      </p:sp>
      <p:sp>
        <p:nvSpPr>
          <p:cNvPr id="8" name="Стрелка"/>
          <p:cNvSpPr/>
          <p:nvPr/>
        </p:nvSpPr>
        <p:spPr>
          <a:xfrm>
            <a:off x="3054781" y="2944012"/>
            <a:ext cx="246888" cy="310896"/>
          </a:xfrm>
          <a:prstGeom prst="rightArrow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447973" y="2011680"/>
            <a:ext cx="2396413" cy="2175560"/>
          </a:xfrm>
          <a:prstGeom prst="roundRect">
            <a:avLst>
              <a:gd name="adj" fmla="val 5884"/>
            </a:avLst>
          </a:prstGeom>
          <a:solidFill>
            <a:srgbClr val="2A2307"/>
          </a:solidFill>
          <a:ln w="19050">
            <a:solidFill>
              <a:srgbClr val="F5C400"/>
            </a:solidFill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04005" y="2249424"/>
            <a:ext cx="188434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0" lang="ru-RU" spc="1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4005" y="2578608"/>
            <a:ext cx="1884349" cy="1380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3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Edge + LinQ TPU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детекция, поза, трекинг, правила</a:t>
            </a:r>
          </a:p>
        </p:txBody>
      </p:sp>
      <p:sp>
        <p:nvSpPr>
          <p:cNvPr id="12" name="Стрелка"/>
          <p:cNvSpPr/>
          <p:nvPr/>
        </p:nvSpPr>
        <p:spPr>
          <a:xfrm>
            <a:off x="5954115" y="2944012"/>
            <a:ext cx="246888" cy="310896"/>
          </a:xfrm>
          <a:prstGeom prst="rightArrow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347307" y="2011680"/>
            <a:ext cx="2396413" cy="2175560"/>
          </a:xfrm>
          <a:prstGeom prst="roundRect">
            <a:avLst>
              <a:gd name="adj" fmla="val 5884"/>
            </a:avLst>
          </a:prstGeom>
          <a:solidFill>
            <a:srgbClr val="171A1F"/>
          </a:solidFill>
          <a:ln w="12700">
            <a:solidFill>
              <a:srgbClr val="2C3037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03339" y="2249424"/>
            <a:ext cx="188434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0" lang="ru-RU" spc="1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339" y="2578608"/>
            <a:ext cx="1884349" cy="1380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3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Событие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кадр, клип, зона, время</a:t>
            </a:r>
          </a:p>
        </p:txBody>
      </p:sp>
      <p:sp>
        <p:nvSpPr>
          <p:cNvPr id="16" name="Стрелка"/>
          <p:cNvSpPr/>
          <p:nvPr/>
        </p:nvSpPr>
        <p:spPr>
          <a:xfrm>
            <a:off x="8853449" y="2944012"/>
            <a:ext cx="246888" cy="310896"/>
          </a:xfrm>
          <a:prstGeom prst="rightArrow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246641" y="2011680"/>
            <a:ext cx="2396413" cy="2175560"/>
          </a:xfrm>
          <a:prstGeom prst="roundRect">
            <a:avLst>
              <a:gd name="adj" fmla="val 5884"/>
            </a:avLst>
          </a:prstGeom>
          <a:solidFill>
            <a:srgbClr val="171A1F"/>
          </a:solidFill>
          <a:ln w="12700">
            <a:solidFill>
              <a:srgbClr val="2C3037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2673" y="2249424"/>
            <a:ext cx="188434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0" lang="ru-RU" spc="1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2673" y="2578608"/>
            <a:ext cx="1884349" cy="1380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3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Оператор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пульт, журнал, аналитика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553000"/>
            <a:ext cx="11094415" cy="0"/>
          </a:xfrm>
          <a:prstGeom prst="rect">
            <a:avLst/>
          </a:prstGeom>
          <a:noFill/>
          <a:ln w="12700">
            <a:solidFill>
              <a:srgbClr val="2C3037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8640" y="4873040"/>
            <a:ext cx="342381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400" b="0" lang="ru-RU">
                <a:solidFill>
                  <a:srgbClr val="F5C400"/>
                </a:solidFill>
                <a:latin typeface="Onest ExtraBold"/>
                <a:ea typeface="Onest ExtraBold"/>
                <a:cs typeface="Onest ExtraBold"/>
              </a:rPr>
              <a:t>≈2 с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от нарушения до оповещения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873040"/>
            <a:ext cx="342381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400" b="0" lang="ru-RU">
                <a:solidFill>
                  <a:srgbClr val="F5C400"/>
                </a:solidFill>
                <a:latin typeface="Onest ExtraBold"/>
                <a:ea typeface="Onest ExtraBold"/>
                <a:cs typeface="Onest ExtraBold"/>
              </a:rPr>
              <a:t>13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типов нарушений, каждый — плагин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4916" y="4873040"/>
            <a:ext cx="3423818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400" b="0" lang="ru-RU">
                <a:solidFill>
                  <a:srgbClr val="F5C400"/>
                </a:solidFill>
                <a:latin typeface="Onest ExtraBold"/>
                <a:ea typeface="Onest ExtraBold"/>
                <a:cs typeface="Onest ExtraBold"/>
              </a:rPr>
              <a:t>1 = 1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одно нарушение — одно оповещение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МОНИТОРИНГ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03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Вся смена на одном экране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828800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Живые камеры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нарушение подсвечено прямо на кадре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625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3110534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Лента тревог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критичные сверху, со звуком и баннером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3798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5528" y="4392269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Хроника смены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все события по камерам на таймлайне</a:t>
            </a:r>
          </a:p>
        </p:txBody>
      </p:sp>
      <p:pic>
        <p:nvPicPr>
          <p:cNvPr id="11" name="Picture 10" descr="tpu-monitoring.jpg"/>
          <p:cNvPicPr>
            <a:picLocks noChangeAspect="1"/>
          </p:cNvPicPr>
          <p:nvPr/>
        </p:nvPicPr>
        <p:blipFill>
          <a:blip r:embed="rId2"/>
          <a:srcRect l="5800"/>
          <a:stretch>
            <a:fillRect/>
          </a:stretch>
        </p:blipFill>
        <p:spPr>
          <a:xfrm>
            <a:off x="4389606" y="1783080"/>
            <a:ext cx="7070082" cy="4690872"/>
          </a:xfrm>
          <a:prstGeom prst="roundRect">
            <a:avLst>
              <a:gd name="adj" fmla="val 1364"/>
            </a:avLst>
          </a:prstGeom>
          <a:ln w="12700">
            <a:solidFill>
              <a:srgbClr val="2C3037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СОБЫТИЕ И ИНТЕГРАЦИЯ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04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Одно нарушение — одна карточка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828800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Доказательство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рамка и зона на снимке, клип ±5 с, статус в один клик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625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3110534"/>
            <a:ext cx="2953512" cy="1252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Интеграция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JSON-событие в RabbitMQ: долговечная очередь, без дублей</a:t>
            </a:r>
          </a:p>
        </p:txBody>
      </p:sp>
      <p:sp>
        <p:nvSpPr>
          <p:cNvPr id="9" name="Поток"/>
          <p:cNvSpPr/>
          <p:nvPr/>
        </p:nvSpPr>
        <p:spPr>
          <a:xfrm>
            <a:off x="548640" y="4646676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171A1F"/>
          </a:solidFill>
          <a:ln w="12700">
            <a:solidFill>
              <a:srgbClr val="2C3037"/>
            </a:solidFill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464667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</a:pPr>
            <a:r>
              <a:rPr sz="16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Событие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938528" y="5094732"/>
            <a:ext cx="237744" cy="155448"/>
          </a:xfrm>
          <a:prstGeom prst="downArrow">
            <a:avLst/>
          </a:prstGeom>
          <a:solidFill>
            <a:srgbClr val="77756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Поток"/>
          <p:cNvSpPr/>
          <p:nvPr/>
        </p:nvSpPr>
        <p:spPr>
          <a:xfrm>
            <a:off x="548640" y="52959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2A2307"/>
          </a:solidFill>
          <a:ln w="12700">
            <a:solidFill>
              <a:srgbClr val="F5C400"/>
            </a:solidFill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5295900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</a:pPr>
            <a:r>
              <a:rPr sz="1600" b="0" lang="ru-RU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RabbitMQ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938528" y="5743956"/>
            <a:ext cx="237744" cy="155448"/>
          </a:xfrm>
          <a:prstGeom prst="downArrow">
            <a:avLst/>
          </a:prstGeom>
          <a:solidFill>
            <a:srgbClr val="77756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Поток"/>
          <p:cNvSpPr/>
          <p:nvPr/>
        </p:nvSpPr>
        <p:spPr>
          <a:xfrm>
            <a:off x="548640" y="5945124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171A1F"/>
          </a:solidFill>
          <a:ln w="12700">
            <a:solidFill>
              <a:srgbClr val="2C3037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5945124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</a:pPr>
            <a:r>
              <a:rPr sz="16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MES · SCADA · ERP · бот</a:t>
            </a:r>
          </a:p>
        </p:txBody>
      </p:sp>
      <p:pic>
        <p:nvPicPr>
          <p:cNvPr id="17" name="Picture 16" descr="event.jpg"/>
          <p:cNvPicPr>
            <a:picLocks noChangeAspect="1"/>
          </p:cNvPicPr>
          <p:nvPr/>
        </p:nvPicPr>
        <p:blipFill>
          <a:blip r:embed="rId2"/>
          <a:srcRect l="10000" t="2500" r="10000" b="2500"/>
          <a:stretch>
            <a:fillRect/>
          </a:stretch>
        </p:blipFill>
        <p:spPr>
          <a:xfrm>
            <a:off x="4413351" y="1783080"/>
            <a:ext cx="7022592" cy="4690872"/>
          </a:xfrm>
          <a:prstGeom prst="roundRect">
            <a:avLst>
              <a:gd name="adj" fmla="val 1364"/>
            </a:avLst>
          </a:prstGeom>
          <a:ln w="12700">
            <a:solidFill>
              <a:srgbClr val="2C3037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ЖУРНАЛ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05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Журнал — доказательная база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828800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Фильтры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период, тип, камера, зона, статус, важность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625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3110534"/>
            <a:ext cx="2953512" cy="1252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Разбор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решение и комментарий оператора у каждого события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1068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5528" y="4664964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Экспорт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CSV для Excel и отчёт за смену или месяц</a:t>
            </a:r>
          </a:p>
        </p:txBody>
      </p:sp>
      <p:pic>
        <p:nvPicPr>
          <p:cNvPr id="11" name="Picture 10" descr="journal.jpg"/>
          <p:cNvPicPr>
            <a:picLocks noChangeAspect="1"/>
          </p:cNvPicPr>
          <p:nvPr/>
        </p:nvPicPr>
        <p:blipFill>
          <a:blip r:embed="rId2"/>
          <a:srcRect l="5800"/>
          <a:stretch>
            <a:fillRect/>
          </a:stretch>
        </p:blipFill>
        <p:spPr>
          <a:xfrm>
            <a:off x="4069079" y="1783080"/>
            <a:ext cx="7711135" cy="4604579"/>
          </a:xfrm>
          <a:prstGeom prst="roundRect">
            <a:avLst>
              <a:gd name="adj" fmla="val 1390"/>
            </a:avLst>
          </a:prstGeom>
          <a:ln w="12700">
            <a:solidFill>
              <a:srgbClr val="2C3037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НАСТРОЙКА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06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Зоны и правила — мышью, без кода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828800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Зона на кадре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полигон рисуется прямо на стоп-кадре камеры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625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3110534"/>
            <a:ext cx="2953512" cy="1252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Типы зон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опасная, обязательные СИЗ, курение, проезд техники, высота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1068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5528" y="4664964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Правило — формой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расписание, длительность, важность — без перезапуска</a:t>
            </a:r>
          </a:p>
        </p:txBody>
      </p:sp>
      <p:pic>
        <p:nvPicPr>
          <p:cNvPr id="11" name="Picture 10" descr="zones.jpg"/>
          <p:cNvPicPr>
            <a:picLocks noChangeAspect="1"/>
          </p:cNvPicPr>
          <p:nvPr/>
        </p:nvPicPr>
        <p:blipFill>
          <a:blip r:embed="rId2"/>
          <a:srcRect l="26500" t="8500" r="1200" b="14000"/>
          <a:stretch>
            <a:fillRect/>
          </a:stretch>
        </p:blipFill>
        <p:spPr>
          <a:xfrm>
            <a:off x="4069079" y="1783080"/>
            <a:ext cx="7711135" cy="4649478"/>
          </a:xfrm>
          <a:prstGeom prst="roundRect">
            <a:avLst>
              <a:gd name="adj" fmla="val 1376"/>
            </a:avLst>
          </a:prstGeom>
          <a:ln w="12700">
            <a:solidFill>
              <a:srgbClr val="2C3037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АНАЛИТИКА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07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Где, когда и кто нарушает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828800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Срезы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по типам, участкам, камерам, дням и часам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625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3110534"/>
            <a:ext cx="2953512" cy="13053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Сотрудник в нарушении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диспетчер отмечает виновника в карточке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63363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5528" y="4717643"/>
            <a:ext cx="2953512" cy="13053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Персональная статистика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отчёт и CSV по каждому сотруднику</a:t>
            </a:r>
          </a:p>
        </p:txBody>
      </p:sp>
      <p:pic>
        <p:nvPicPr>
          <p:cNvPr id="11" name="Picture 10" descr="analytics.jpg"/>
          <p:cNvPicPr>
            <a:picLocks noChangeAspect="1"/>
          </p:cNvPicPr>
          <p:nvPr/>
        </p:nvPicPr>
        <p:blipFill>
          <a:blip r:embed="rId2"/>
          <a:srcRect l="5800"/>
          <a:stretch>
            <a:fillRect/>
          </a:stretch>
        </p:blipFill>
        <p:spPr>
          <a:xfrm>
            <a:off x="4069079" y="1783080"/>
            <a:ext cx="7711135" cy="4604579"/>
          </a:xfrm>
          <a:prstGeom prst="roundRect">
            <a:avLst>
              <a:gd name="adj" fmla="val 1390"/>
            </a:avLst>
          </a:prstGeom>
          <a:ln w="12700">
            <a:solidFill>
              <a:srgbClr val="2C3037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ДООБУЧЕНИЕ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08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Маховик данных: модели учатся на своём цехе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828800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Сбор сам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кадры событий, неуверенные рамки, ложные тревоги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6254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5528" y="3110534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Разметка и датасет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учитель размечает, человек проверяет, выгрузка в YOLO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37989"/>
            <a:ext cx="64008" cy="274320"/>
          </a:xfrm>
          <a:prstGeom prst="rect">
            <a:avLst/>
          </a:prstGeom>
          <a:solidFill>
            <a:srgbClr val="F5C4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5528" y="4392269"/>
            <a:ext cx="2953512" cy="9799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lang="ru-RU">
                <a:solidFill>
                  <a:srgbClr val="EDEBE6"/>
                </a:solidFill>
                <a:latin typeface="Onest SemiBold"/>
                <a:ea typeface="Onest SemiBold"/>
                <a:cs typeface="Onest SemiBold"/>
              </a:rPr>
              <a:t>Дообучение и гейт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6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новая модель выходит, только если не хуже прежней</a:t>
            </a:r>
          </a:p>
        </p:txBody>
      </p:sp>
      <p:pic>
        <p:nvPicPr>
          <p:cNvPr id="11" name="Picture 10" descr="data.jpg"/>
          <p:cNvPicPr>
            <a:picLocks noChangeAspect="1"/>
          </p:cNvPicPr>
          <p:nvPr/>
        </p:nvPicPr>
        <p:blipFill>
          <a:blip r:embed="rId2"/>
          <a:srcRect l="5800"/>
          <a:stretch>
            <a:fillRect/>
          </a:stretch>
        </p:blipFill>
        <p:spPr>
          <a:xfrm>
            <a:off x="4069079" y="1783080"/>
            <a:ext cx="7711135" cy="4604579"/>
          </a:xfrm>
          <a:prstGeom prst="roundRect">
            <a:avLst>
              <a:gd name="adj" fmla="val 1390"/>
            </a:avLst>
          </a:prstGeom>
          <a:ln w="12700">
            <a:solidFill>
              <a:srgbClr val="2C3037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Раздел"/>
          <p:cNvSpPr txBox="1"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 lang="ru-RU" spc="200">
                <a:solidFill>
                  <a:srgbClr val="F5C400"/>
                </a:solidFill>
                <a:latin typeface="Onest SemiBold"/>
                <a:ea typeface="Onest SemiBold"/>
                <a:cs typeface="Onest SemiBold"/>
              </a:rPr>
              <a:t>ПРОИЗВОДИТЕЛЬНОСТЬ</a:t>
            </a:r>
          </a:p>
        </p:txBody>
      </p:sp>
      <p:sp>
        <p:nvSpPr>
          <p:cNvPr id="3" name="Номер"/>
          <p:cNvSpPr txBox="1"/>
          <p:nvPr/>
        </p:nvSpPr>
        <p:spPr>
          <a:xfrm>
            <a:off x="9814255" y="438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5000"/>
              </a:lnSpc>
            </a:pPr>
            <a:r>
              <a:rPr sz="1200" b="0" lang="ru-RU">
                <a:solidFill>
                  <a:srgbClr val="504F4B"/>
                </a:solidFill>
                <a:latin typeface="Onest Medium"/>
                <a:ea typeface="Onest Medium"/>
                <a:cs typeface="Onest Medium"/>
              </a:rPr>
              <a:t>09 / 10</a:t>
            </a:r>
          </a:p>
        </p:txBody>
      </p:sp>
      <p:sp>
        <p:nvSpPr>
          <p:cNvPr id="4" name="Заголовок"/>
          <p:cNvSpPr txBox="1"/>
          <p:nvPr/>
        </p:nvSpPr>
        <p:spPr>
          <a:xfrm>
            <a:off x="548640" y="74980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Всё работает на LinQ TPU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3200400" cy="10425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400" b="0" lang="ru-RU">
                <a:solidFill>
                  <a:srgbClr val="F5C400"/>
                </a:solidFill>
                <a:latin typeface="Onest ExtraBold"/>
                <a:ea typeface="Onest ExtraBold"/>
                <a:cs typeface="Onest ExtraBold"/>
              </a:rPr>
              <a:t>≈2 с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7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от нарушения до оповещения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99993"/>
            <a:ext cx="3200400" cy="10425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400" b="0" lang="ru-RU">
                <a:solidFill>
                  <a:srgbClr val="F5C400"/>
                </a:solidFill>
                <a:latin typeface="Onest ExtraBold"/>
                <a:ea typeface="Onest ExtraBold"/>
                <a:cs typeface="Onest ExtraBold"/>
              </a:rPr>
              <a:t>4 × 4,9 к/с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7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четыре камеры на одном узле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915"/>
            <a:ext cx="3200400" cy="13323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400" b="0" lang="ru-RU">
                <a:solidFill>
                  <a:srgbClr val="F5C400"/>
                </a:solidFill>
                <a:latin typeface="Onest ExtraBold"/>
                <a:ea typeface="Onest ExtraBold"/>
                <a:cs typeface="Onest ExtraBold"/>
              </a:rPr>
              <a:t>×4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7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больше кадров, чем на CPU того же узла</a:t>
            </a:r>
          </a:p>
        </p:txBody>
      </p:sp>
      <p:pic>
        <p:nvPicPr>
          <p:cNvPr id="8" name="Picture 7" descr="tpu-monitoring.jpg"/>
          <p:cNvPicPr>
            <a:picLocks noChangeAspect="1"/>
          </p:cNvPicPr>
          <p:nvPr/>
        </p:nvPicPr>
        <p:blipFill>
          <a:blip r:embed="rId2"/>
          <a:srcRect l="5800" r="27000" b="20000"/>
          <a:stretch>
            <a:fillRect/>
          </a:stretch>
        </p:blipFill>
        <p:spPr>
          <a:xfrm>
            <a:off x="4772381" y="1783080"/>
            <a:ext cx="6304531" cy="4690872"/>
          </a:xfrm>
          <a:prstGeom prst="roundRect">
            <a:avLst>
              <a:gd name="adj" fmla="val 1364"/>
            </a:avLst>
          </a:prstGeom>
          <a:ln w="12700">
            <a:solidFill>
              <a:srgbClr val="2C3037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1234440"/>
            <a:ext cx="1188720" cy="1188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97480"/>
            <a:ext cx="10362895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8000" b="0" lang="ru-RU">
                <a:solidFill>
                  <a:srgbClr val="EDEBE6"/>
                </a:solidFill>
                <a:latin typeface="Onest ExtraBold"/>
                <a:ea typeface="Onest ExtraBold"/>
                <a:cs typeface="Onest ExtraBold"/>
              </a:rPr>
              <a:t>Спасибо!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</a:pPr>
            <a:r>
              <a:rPr sz="2800" b="0" lang="ru-RU">
                <a:solidFill>
                  <a:srgbClr val="F5C400"/>
                </a:solidFill>
                <a:latin typeface="Onest Medium"/>
                <a:ea typeface="Onest Medium"/>
                <a:cs typeface="Onest Medium"/>
              </a:rPr>
              <a:t>Готовы ответить на 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</a:pPr>
            <a:r>
              <a:rPr sz="1800" b="0" lang="ru-RU">
                <a:solidFill>
                  <a:srgbClr val="A9A7A0"/>
                </a:solidFill>
                <a:latin typeface="Onest"/>
                <a:ea typeface="Onest"/>
                <a:cs typeface="Onest"/>
              </a:rPr>
              <a:t>Команда «Зазеркалье» · github.com/timur-nagimov/mospromhack</a:t>
            </a:r>
          </a:p>
        </p:txBody>
      </p:sp>
      <p:pic>
        <p:nvPicPr>
          <p:cNvPr id="6" name="Picture 5" descr="haz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29984"/>
            <a:ext cx="12191695" cy="1280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Зазеркалье — видеоаналитика охраны труда на LinQ TPU</dc:title>
  <dc:subject/>
  <dc:creator>Команда «Зазеркалье»</dc:creator>
  <cp:keywords/>
  <dc:description/>
  <cp:lastModifiedBy>Команда «Зазеркалье»</cp:lastModifiedBy>
  <cp:revision>1</cp:revision>
  <dcterms:created xsi:type="dcterms:W3CDTF">2013-01-27T09:14:16Z</dcterms:created>
  <dcterms:modified xsi:type="dcterms:W3CDTF">2013-01-27T09:15:58Z</dcterms:modified>
  <cp:category/>
</cp:coreProperties>
</file>